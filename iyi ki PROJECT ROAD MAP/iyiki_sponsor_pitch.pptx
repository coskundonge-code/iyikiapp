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Ortaklik Sunumu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FF3300">
              <a:alpha val="6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Iyiligin parcasi olun.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 |  Nisan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Geleneksel Model: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"Almadan Vermemek"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Kampanya ve Indirim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Indirim kuponlari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Sadakat puanlari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Kosullu kampanyalar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 3 ode 2" mantigi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Iliskiyi islem bazli tutar.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67740000" dist="322580000" dir="486000000000">
              <a:srgbClr val="000000">
                <a:alpha val="10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63040"/>
            <a:ext cx="384048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Sosyal Yardim / CSR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STK'lara yonlendirme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Sirket degerleriyle uyumlu cevreler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Sinirli kapsayicilik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Ustten alta dagitim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Kime ulasacagini sirket belirler.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iki model de deger uretir. Ancak ikisi de birey-birey bagini kurmaz.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Yardimin Gorunmeyen Hiyerarsisi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12290298000000" dist="4096766000000" dir="29160000000000000">
              <a:srgbClr val="000000">
                <a:alpha val="1000000000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kisi arkadasina dogrudan Ramazan kolisi gondermez. Ama "kendinden alt" gordugu birine gonderirse, gorunen ya da gorunmeyen bir hiyerarsi olusur. Alicinin gururu, onuru ve duygulari zedelenebilir.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3840480" cy="201168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156086784600000000" dist="52028928200000000" dir="1.7496e+21">
              <a:srgbClr val="000000">
                <a:alpha val="100000000000000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Geleneksel Yardim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Sirket → STK → Birey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Dikey dagitim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Sirket kimi belirler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Alici "yardim alan" konumunda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Gurur/onur hassasiyeti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468880"/>
            <a:ext cx="3840480" cy="201168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.98230216442e+21" dist="660767388140000000000" dir="1.04976e+26">
              <a:srgbClr val="000000">
                <a:alpha val="1e+2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468880"/>
            <a:ext cx="3840480" cy="4572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 Modeli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→ Havuz → Birey → Birey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dagitim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sectigini bireyler belirler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Alici "dusunulen" konumunda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Hiyerarsi ortadan kalkar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3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 yardim degil de</a:t>
            </a:r>
            <a:endParaRPr lang="en-US" sz="3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hak olsaydi?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i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tarafindan tum kullanicilara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i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tanilmis bir hak.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i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Kime ulasacagini bireyler belirliyor.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.5175237488134e+25" dist="8.391745829378e+24" dir="6.29856e+30">
              <a:srgbClr val="000000">
                <a:alpha val="1e+2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destekli, bireyler arasi hediyeIesme platformu.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kahve, bir kitap, bir cikolata — gercek markalardan, gercek urunler. Kullanici para odemiyor. Fiyat hicbir yerde gorunmuyor. Tam deger transferi var, indirim yok. Jest var, ticaret yok.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.197255160993018e+29" dist="1.0657517203310059e+29" dir="3.779136e+35">
              <a:srgbClr val="000000">
                <a:alpha val="1e+34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718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Herkese Acik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794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Yas, cinsiyet, inanc,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sosyoekonomik fark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gozetmez.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283464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.0605140544611325e+33" dist="1.3535046848203775e+33" dir="2.2674816e+40">
              <a:srgbClr val="000000">
                <a:alpha val="1e+39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9718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Hak Temelli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97480" y="3794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tarafindan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 kullanicilara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tanilanmis hak.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283464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.156852849165638e+37" dist="1.7189509497218795e+37" dir="1.36048896e+45">
              <a:srgbClr val="000000">
                <a:alpha val="9.999999999999999e+43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71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Peer-to-Peer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3794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Deger bireyler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tarafindan birbirine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edilir.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2834640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.549203118440361e+41" dist="2.183067706146787e+41" dir="8.16293376e+49">
              <a:srgbClr val="000000">
                <a:alpha val="1e+49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971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Hiyerarsisiz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95160" y="3794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kime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ulasacagini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belirlemez.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Nasil Calisiyor?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502920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Urunu secer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Ureticiyi secer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 ve butceyi belirler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Odemeyi ureticiye yapar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Rolu: Havuza kazandirmak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9748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97280"/>
            <a:ext cx="2697480" cy="54864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2697480" cy="50292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URETICI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Urunu saglar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QR/token uretir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Magazada teslim eder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Ornekler: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Starbucks, Migros, D&amp;R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Kahve Dunyasi, Netflix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097280"/>
            <a:ext cx="2697480" cy="50292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97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KULLANICI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Havuzu goruntooler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Urunleri kesfeder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Baskasina hediye gonderir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Kendisine geleni kullanir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Kural: Kendine gonderemez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3300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9788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3300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Yardim Degil, Hak.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.317487960419258e+45" dist="2.7724959868064195e+45" dir="4.897760256e+54">
              <a:srgbClr val="000000">
                <a:alpha val="9.999999999999999e+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280160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"Yardim" kavrami, bireyin dogrudan kendisine yapilan destegi kabul etmekte zorlanmasina neden olabilir. iyi ki modelinde ise sponsor tarafindan tum kullanicilara tanimlamis bir hak sozkonusudur.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hakkin kime daha uygun oldugunu en iyi bireyin kendi sosyal cevresi anlayabilir.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ORNEK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Ramazan Kolisi Senaryosu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Ramazan kolilerini havuza birakir.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kisi, kendi sosyal cevresinden birine bu koliyi hediye eder.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Alici, bir ust-alt iliskisi degil, bir akraninin dusuncesini alir.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Gurur zedelenmez. Onur korunur. Hiyerarsi ortadan kalkar.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Olarak Ne Kazanirsiniz?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6002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1.0563209709732457e+50" dist="3.5210699032441527e+49" dir="2.9386561536e+59">
              <a:srgbClr val="000000">
                <a:alpha val="9.999999999999999e+58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Iyilikle Hatirlanan Marka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508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unutulur. Iyilik hatirlanir. Markaniz bir jestin parcasi olarak hafizada kalir.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97480" cy="16002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1.341527633136022e+54" dist="4.471758777120074e+53" dir="1.76319369216e+64">
              <a:srgbClr val="000000">
                <a:alpha val="9.999999999999999e+63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430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4904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Gercek Insan Etkilesimi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0" y="1508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yok, fake impression yok. Her sponsorluk gercek bir insanin gercek bir jestini fonlar.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697480" cy="16002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1.7037400940827478e+58" dist="5.679133646942494e+57" dir="1.057916215296e+69">
              <a:srgbClr val="000000">
                <a:alpha val="9.999999999999999e+68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Organik Gorunurluk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63640" y="1508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hediye kartinda, bildirimde ve haftalik raporda markaniz gorunur — reklam olarak degil, iyilik olarak.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788920"/>
            <a:ext cx="2697480" cy="16002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2.16374991948509e+62" dist="7.212499731616968e+61" dir="6.347497291776e+73">
              <a:srgbClr val="000000">
                <a:alpha val="9.999999999999998e+73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260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Olculebilir Sosyal Etki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02920" y="32918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 jest fonlandi, kac kisi mutlu edildi — haftalik raporlar. ESG raporlamaniza dogrudan girer.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46120" y="2788920"/>
            <a:ext cx="2697480" cy="16002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2.747962397746064e+66" dist="9.15987465915355e+65" dir="3.8084983750656e+78">
              <a:srgbClr val="000000">
                <a:alpha val="9.999999999999998e+78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260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4904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Magaza Trafigi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383280" y="32918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Hediye alan kisi mağazaya gider, urunu teslim alir. Yeni musteri deneyimi olusur.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2788920"/>
            <a:ext cx="2697480" cy="16002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3.4899122451375014e+70" dist="1.1633040817125008e+70" dir="2.28509902503936e+83">
              <a:srgbClr val="000000">
                <a:alpha val="9.999999999999998e+83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2608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294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Algisi Donusumu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263640" y="32918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"Bize bir sey satan marka" algisi yerine "bize bir sey veren marka" algisi olusur.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Geleneksel Reklam vs iyi ki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59436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005840"/>
            <a:ext cx="3108960" cy="59436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05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Kampanya / Reklam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108960" cy="59436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005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 Sponsorlugu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201168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459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Insanlar ne hissediyor?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645920"/>
            <a:ext cx="310896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645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"Bana bir sey satmaya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calisiyor"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645920"/>
            <a:ext cx="310896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645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marka benim icin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sey yapti"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Dagitim modeli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2286000"/>
            <a:ext cx="3108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Sirket → Birey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(dikey, tek yonlu)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286000"/>
            <a:ext cx="3108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2286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 → Birey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(yatay, cift yonlu)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01168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26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Kapsayicilik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926080"/>
            <a:ext cx="310896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 odakli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(segmentasyon)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926080"/>
            <a:ext cx="310896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Herkese acik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(kapsayici)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66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Olculebilirlik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566160"/>
            <a:ext cx="3108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Impression, CPM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(cogu yapay)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566160"/>
            <a:ext cx="31089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3566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 jest, gercek insan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(somut)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201168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06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etki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4206240"/>
            <a:ext cx="310896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4206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Sinirli veya yok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4206240"/>
            <a:ext cx="3108960" cy="59436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4206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jest = 1 insan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mutlu edildi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Sponsorluk Paketleri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38328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4.432188551324627e+74" dist="1.477396183774876e+74" dir="1.371059415023616e+88">
              <a:srgbClr val="000000">
                <a:alpha val="9.999999999999999e+8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Aylik 1.000 jest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Havuzda gorunurluk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rapor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gosterimi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"Sponsorluguyla" etiketi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651760" cy="365760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5.628879460182276e+78" dist="1.8762931533940924e+78" dir="8.226356490141696e+92">
              <a:srgbClr val="000000">
                <a:alpha val="9.999999999999998e+9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914400"/>
            <a:ext cx="265176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4517136"/>
            <a:ext cx="265176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914400"/>
            <a:ext cx="2651760" cy="548640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Aylik 10.000 jest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sponsorlugu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Ozel hediye kartlari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Detayli haftalik rapor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 gorunurlugu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rapor verisi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651760" cy="3383280"/>
          </a:xfrm>
          <a:prstGeom prst="rect">
            <a:avLst/>
          </a:prstGeom>
          <a:solidFill>
            <a:srgbClr val="FFFAF5"/>
          </a:solidFill>
          <a:ln/>
          <a:effectLst>
            <a:outerShdw sx="100000" sy="100000" kx="0" ky="0" algn="bl" rotWithShape="0" blurRad="7.14867691443149e+82" dist="2.3828923048104974e+82" dir="4.9358138940850176e+97">
              <a:srgbClr val="000000">
                <a:alpha val="9.999999999999998e+9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51560"/>
            <a:ext cx="2651760" cy="54864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051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STRATEJIK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Aylik 50.000+ jest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kategori sponsoru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ozel kampanyalar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Gercek zamanli dashboard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hikaye ortakligi</a:t>
            </a:r>
            <a:r>
              <a:rPr lang="tr-TR" sz="1200" dirty="0"/>
              <a:t>
KADEMELI KOMISYON: Baslangic %7 | Buyume %6 | Olcek %5 | Stratejik %4. Hacim arttikca komisyon duser. Platform toplam payi %16 ile baslar, %20 bandina kadar cikar.
BIREYSEL SPONSOR: Mikro (50-100 jest/ay) ve Mini (500 jest/ay) paketleri ile bireyler de sponsor olabilir.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Lansman ortakligi</a:t>
            </a:r>
            <a:endParaRPr lang="en-US" sz="11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analitigi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Gorunurlugu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1508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Hediye Karti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hediye kartinda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 sponsorluguyla"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97480" cy="1508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Bildirim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kisinin bildiriminde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logosu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1508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Haftalik Rapor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6002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 hafta X sponsorlugunda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3.247 kisi birini dusundu"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697480" cy="1508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Sosyal Medya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icerik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paylasimlarinda gorunurluk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697480" cy="1508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logolari ve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"iyiligin parcasi" bolumu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97480" cy="15087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 Ici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337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Sponsorlu urun kartlarinda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gorseli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Olcum ve Raporlama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9.078819681327992e+86" dist="3.0262732271093317e+86" dir="2.9614883364510103e+102">
              <a:srgbClr val="000000">
                <a:alpha val="9.999999999999998e+103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6984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005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 kullanici kampanyayi gordu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solidFill>
            <a:srgbClr val="FFFAF5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 hediye gonderildi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57200" y="2011680"/>
            <a:ext cx="502920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7568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011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 hediye kullanildi (QR redemption)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57200" y="2514600"/>
            <a:ext cx="5029200" cy="411480"/>
          </a:xfrm>
          <a:prstGeom prst="rect">
            <a:avLst/>
          </a:prstGeom>
          <a:solidFill>
            <a:srgbClr val="FFFAF5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78608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2514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 kisi urunu ilk kez denedi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57200" y="3017520"/>
            <a:ext cx="502920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81528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440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ziyaret orani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57200" y="3520440"/>
            <a:ext cx="5029200" cy="411480"/>
          </a:xfrm>
          <a:prstGeom prst="rect">
            <a:avLst/>
          </a:prstGeom>
          <a:solidFill>
            <a:srgbClr val="FFFAF5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584448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14400" y="3520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etkilesimleri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760720" y="1005840"/>
            <a:ext cx="3017520" cy="292608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24" name="Text 15"/>
          <p:cNvSpPr/>
          <p:nvPr/>
        </p:nvSpPr>
        <p:spPr>
          <a:xfrm>
            <a:off x="59436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yapi sponsorluk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modelini: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5943600" y="2011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Olculebilir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Karsilastiirilabilir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Optimize edilebilir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594360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hale getirir.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41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Ornek Senaryo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"Garanti BBVA, iyi ki'de nasil gorunur?"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384048" cy="384048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43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 BBVA aylik 10.000 jestin sponsorlugunu ustlenir.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" y="1645920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29384"/>
            <a:ext cx="384048" cy="384048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ve D&amp;R ile eslestirilir. 10.000 kahve + kitap havuza girer.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" y="2331720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15184"/>
            <a:ext cx="384048" cy="384048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Kullanicilar birbirine gonderir. Her hediye kartinda: "Garanti BBVA sponsorluguyla"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" y="3017520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46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kisi Starbucks'a gider, kahvesini alir. Garanti'yi iyilikle hatirlar.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" y="3703320"/>
            <a:ext cx="0" cy="228600"/>
          </a:xfrm>
          <a:prstGeom prst="line">
            <a:avLst/>
          </a:prstGeom>
          <a:noFill/>
          <a:ln w="19050">
            <a:solidFill>
              <a:srgbClr val="FF3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FF33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rapor: 8.742 jest tamamlandi, 6.218 tekil kullanici, 14 sehir.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A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Sonuc: Garanti BBVA, reklam degil iyilik yapan marka olarak konumlanir.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Perspektifi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ve uzun vadede sirketlerin toplumsal katki yukumlulukleri artacaktir. Sponsorluk butceleri kampanya bazli harcamalardan, olculebilir ve surdurulebilir sosyal yatirimlara donusecektir.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ki, bu donusumun erken asamasinda konumlanir.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Bireyleri merkeze alan yeni bir dagitim modeli sunar.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BUGUN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Bireylerin duygusal ihtiyaclarina katki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Dusunuldugunnu, hatirlandigini hissettirmek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ve ureticiler tarafindan onemsendiklerini gostermek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3840480" cy="1645920"/>
          </a:xfrm>
          <a:prstGeom prst="rect">
            <a:avLst/>
          </a:prstGeom>
          <a:solidFill>
            <a:srgbClr val="0D0D0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2834640"/>
            <a:ext cx="3840480" cy="411480"/>
          </a:xfrm>
          <a:prstGeom prst="rect">
            <a:avLst/>
          </a:prstGeom>
          <a:solidFill>
            <a:srgbClr val="FFA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YARIN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337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Sirketlerin toplumsal maliyete katkilminin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zorunlu hale gelmesiyle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 daha buyuk ve olcekli bir yapi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3383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3300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3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i="1" dirty="0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 ki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FF3300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kampanya platformu degildir.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yardim platformu degildir.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Olculebilir, kapsayici ve yatay dagitim saglayan</a:t>
            </a:r>
            <a:endParaRPr lang="en-US" sz="17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sponsorluk altyapisidir.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FF33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A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Iyiligin parcasi olun.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iletisim@iyiki.app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B1FBD38020C4D54987E4A0113C02364A" ma:contentTypeVersion="13" ma:contentTypeDescription="Yeni belge oluşturun." ma:contentTypeScope="" ma:versionID="5e59ebce84092db270c7bb3b7bc1c30e">
  <xsd:schema xmlns:xsd="http://www.w3.org/2001/XMLSchema" xmlns:xs="http://www.w3.org/2001/XMLSchema" xmlns:p="http://schemas.microsoft.com/office/2006/metadata/properties" xmlns:ns2="440456e3-d705-4d3a-96db-197d298ed411" xmlns:ns3="3600ea45-c3f0-4f93-8cb7-c12fe39669b1" targetNamespace="http://schemas.microsoft.com/office/2006/metadata/properties" ma:root="true" ma:fieldsID="9e10631fae9303c6fa52d2d34fb5a074" ns2:_="" ns3:_="">
    <xsd:import namespace="440456e3-d705-4d3a-96db-197d298ed411"/>
    <xsd:import namespace="3600ea45-c3f0-4f93-8cb7-c12fe39669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456e3-d705-4d3a-96db-197d298ed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12" nillable="true" ma:displayName="Onay durumu" ma:internalName="_x0024_Resources_x003a_core_x002c_Signoff_Status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Resim Etiketleri" ma:readOnly="false" ma:fieldId="{5cf76f15-5ced-4ddc-b409-7134ff3c332f}" ma:taxonomyMulti="true" ma:sspId="36bd854f-1948-4f99-978a-38efe6c92f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0ea45-c3f0-4f93-8cb7-c12fe39669b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39429c4-ac62-4af5-8e8c-5c343eeec0cc}" ma:internalName="TaxCatchAll" ma:showField="CatchAllData" ma:web="3600ea45-c3f0-4f93-8cb7-c12fe39669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440456e3-d705-4d3a-96db-197d298ed411" xsi:nil="true"/>
    <TaxCatchAll xmlns="3600ea45-c3f0-4f93-8cb7-c12fe39669b1" xsi:nil="true"/>
    <lcf76f155ced4ddcb4097134ff3c332f xmlns="440456e3-d705-4d3a-96db-197d298ed4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4B8A7E8-61D4-40B8-B5F8-1677973169E2}"/>
</file>

<file path=customXml/itemProps2.xml><?xml version="1.0" encoding="utf-8"?>
<ds:datastoreItem xmlns:ds="http://schemas.openxmlformats.org/officeDocument/2006/customXml" ds:itemID="{D6442439-02CE-4B92-AB68-0B2AF353D0C2}"/>
</file>

<file path=customXml/itemProps3.xml><?xml version="1.0" encoding="utf-8"?>
<ds:datastoreItem xmlns:ds="http://schemas.openxmlformats.org/officeDocument/2006/customXml" ds:itemID="{6C926374-F250-4C59-8995-6E547962576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IYI KI - Sponsor Ortaklik Sunumu</dc:title>
  <dc:subject>PptxGenJS Presentation</dc:subject>
  <dc:creator>IYI KI</dc:creator>
  <cp:lastModifiedBy>IYI KI</cp:lastModifiedBy>
  <cp:revision>1</cp:revision>
  <dcterms:created xsi:type="dcterms:W3CDTF">2026-04-05T14:59:47Z</dcterms:created>
  <dcterms:modified xsi:type="dcterms:W3CDTF">2026-04-05T14:59:47Z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0x010100B1FBD38020C4D54987E4A0113C02364A</vt:lpwstr>
  </property>
</Properties>
</file>